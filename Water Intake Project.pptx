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1" r:id="rId3"/>
    <p:sldId id="260" r:id="rId4"/>
    <p:sldId id="263" r:id="rId5"/>
    <p:sldId id="259" r:id="rId6"/>
    <p:sldId id="258" r:id="rId7"/>
    <p:sldId id="264" r:id="rId8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4" d="100"/>
          <a:sy n="14" d="100"/>
        </p:scale>
        <p:origin x="2011" y="3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048A-9934-4486-B816-C985AC383B5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50E7-5887-4488-838F-38FF9F71E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430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048A-9934-4486-B816-C985AC383B5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50E7-5887-4488-838F-38FF9F71E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959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>
                    <a:tint val="82000"/>
                  </a:schemeClr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82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048A-9934-4486-B816-C985AC383B5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50E7-5887-4488-838F-38FF9F71E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70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048A-9934-4486-B816-C985AC383B5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50E7-5887-4488-838F-38FF9F71E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884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048A-9934-4486-B816-C985AC383B5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50E7-5887-4488-838F-38FF9F71E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89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048A-9934-4486-B816-C985AC383B5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50E7-5887-4488-838F-38FF9F71E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67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048A-9934-4486-B816-C985AC383B5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50E7-5887-4488-838F-38FF9F71E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090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048A-9934-4486-B816-C985AC383B5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50E7-5887-4488-838F-38FF9F71E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481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048A-9934-4486-B816-C985AC383B5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50E7-5887-4488-838F-38FF9F71E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162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048A-9934-4486-B816-C985AC383B5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50E7-5887-4488-838F-38FF9F71E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35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048A-9934-4486-B816-C985AC383B5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50E7-5887-4488-838F-38FF9F71E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453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55048A-9934-4486-B816-C985AC383B5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1850E7-5887-4488-838F-38FF9F71E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116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E31A72-5A5E-AF86-F73A-3FB027AB6A4B}"/>
              </a:ext>
            </a:extLst>
          </p:cNvPr>
          <p:cNvSpPr txBox="1"/>
          <p:nvPr/>
        </p:nvSpPr>
        <p:spPr>
          <a:xfrm>
            <a:off x="2171700" y="15720536"/>
            <a:ext cx="370332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9600" dirty="0">
              <a:solidFill>
                <a:srgbClr val="000000"/>
              </a:solidFill>
              <a:latin typeface="Aptos Display" panose="020B0004020202020204" pitchFamily="34" charset="0"/>
            </a:endParaRPr>
          </a:p>
          <a:p>
            <a:endParaRPr lang="en-US" sz="9600" dirty="0">
              <a:latin typeface="Aptos Display" panose="020B0004020202020204" pitchFamily="34" charset="0"/>
            </a:endParaRPr>
          </a:p>
          <a:p>
            <a:pPr marR="25070" algn="ctr"/>
            <a:r>
              <a:rPr lang="en-US" sz="9600" dirty="0">
                <a:latin typeface="Aptos Display" panose="020B0004020202020204" pitchFamily="34" charset="0"/>
              </a:rPr>
              <a:t> Proper Hydration is a Critical Factor for a Healthy Lifestyle</a:t>
            </a:r>
          </a:p>
          <a:p>
            <a:pPr algn="ctr"/>
            <a:r>
              <a:rPr lang="en-US" sz="9600" dirty="0">
                <a:latin typeface="Aptos" panose="020B0004020202020204" pitchFamily="34" charset="0"/>
              </a:rPr>
              <a:t>Daily Water Intake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1588570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B76AD4-63E3-A4BF-4A0C-F124685498C2}"/>
              </a:ext>
            </a:extLst>
          </p:cNvPr>
          <p:cNvSpPr txBox="1"/>
          <p:nvPr/>
        </p:nvSpPr>
        <p:spPr>
          <a:xfrm>
            <a:off x="16230601" y="16086526"/>
            <a:ext cx="11680371" cy="2162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050" dirty="0">
              <a:solidFill>
                <a:srgbClr val="000000"/>
              </a:solidFill>
              <a:latin typeface="Aptos Display" panose="020B0004020202020204" pitchFamily="34" charset="0"/>
            </a:endParaRPr>
          </a:p>
          <a:p>
            <a:pPr marR="25170"/>
            <a:r>
              <a:rPr lang="en-US" sz="4400" dirty="0">
                <a:latin typeface="Aptos Display" panose="020B0004020202020204" pitchFamily="34" charset="0"/>
              </a:rPr>
              <a:t>Topic of Study: What affects the amount of water intake I consume everyday?</a:t>
            </a:r>
          </a:p>
          <a:p>
            <a:pPr marR="25040" algn="ctr"/>
            <a:r>
              <a:rPr lang="en-US" sz="1800" dirty="0">
                <a:latin typeface="Aptos" panose="020B0004020202020204" pitchFamily="34" charset="0"/>
              </a:rPr>
              <a:t>General studies recommend that the daily intake should be 3 liters a day. Does workout play a factor in my consumption of water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253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1CAD70-6900-B478-9A11-C1F644DF03BB}"/>
              </a:ext>
            </a:extLst>
          </p:cNvPr>
          <p:cNvSpPr txBox="1"/>
          <p:nvPr/>
        </p:nvSpPr>
        <p:spPr>
          <a:xfrm>
            <a:off x="16219714" y="13966210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20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R="121480"/>
            <a:r>
              <a:rPr lang="en-US" sz="1800" b="1" dirty="0">
                <a:latin typeface="Aptos" panose="020B0004020202020204" pitchFamily="34" charset="0"/>
              </a:rPr>
              <a:t>Hypotheses</a:t>
            </a:r>
            <a:endParaRPr lang="en-US" sz="1800" dirty="0">
              <a:latin typeface="Aptos" panose="020B0004020202020204" pitchFamily="34" charset="0"/>
            </a:endParaRPr>
          </a:p>
          <a:p>
            <a:pPr lvl="1"/>
            <a:r>
              <a:rPr lang="en-US" sz="1800" b="1" dirty="0">
                <a:latin typeface="Aptos" panose="020B0004020202020204" pitchFamily="34" charset="0"/>
              </a:rPr>
              <a:t>Hypothesis 1:</a:t>
            </a:r>
            <a:r>
              <a:rPr lang="en-US" sz="1800" dirty="0">
                <a:latin typeface="Aptos" panose="020B0004020202020204" pitchFamily="34" charset="0"/>
              </a:rPr>
              <a:t>Null Hypothesis: Mean intake = 3000 mL/day</a:t>
            </a:r>
          </a:p>
          <a:p>
            <a:pPr lvl="1"/>
            <a:r>
              <a:rPr lang="en-US" sz="1800" dirty="0">
                <a:latin typeface="Aptos" panose="020B0004020202020204" pitchFamily="34" charset="0"/>
              </a:rPr>
              <a:t>Alternative Hypothesis: Mean intake ≠ 3000 mL/day</a:t>
            </a:r>
          </a:p>
          <a:p>
            <a:pPr lvl="1"/>
            <a:r>
              <a:rPr lang="en-US" sz="1800" dirty="0">
                <a:latin typeface="Aptos" panose="020B0004020202020204" pitchFamily="34" charset="0"/>
              </a:rPr>
              <a:t>If p-value &lt; 0.05 we will reject the Null Hypothesis</a:t>
            </a:r>
          </a:p>
          <a:p>
            <a:pPr lvl="1"/>
            <a:r>
              <a:rPr lang="en-US" sz="1800" dirty="0">
                <a:latin typeface="Aptos" panose="020B0004020202020204" pitchFamily="34" charset="0"/>
              </a:rPr>
              <a:t>If p-value &gt;0.05 we will fail to reject the Null Hypothesis.</a:t>
            </a:r>
          </a:p>
          <a:p>
            <a:pPr lvl="1"/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C62A1B-984B-6747-3530-B5A9D84BE964}"/>
              </a:ext>
            </a:extLst>
          </p:cNvPr>
          <p:cNvSpPr txBox="1"/>
          <p:nvPr/>
        </p:nvSpPr>
        <p:spPr>
          <a:xfrm>
            <a:off x="21575486" y="14197042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1800" b="1" dirty="0">
                <a:latin typeface="Aptos" panose="020B0004020202020204" pitchFamily="34" charset="0"/>
              </a:rPr>
              <a:t>Hypothesis 2:</a:t>
            </a:r>
            <a:r>
              <a:rPr lang="en-US" sz="1800" dirty="0">
                <a:latin typeface="Aptos" panose="020B0004020202020204" pitchFamily="34" charset="0"/>
              </a:rPr>
              <a:t>Null Hypothesis : Mean intake on workout days = mean intake on non-workout days</a:t>
            </a:r>
          </a:p>
          <a:p>
            <a:pPr lvl="1"/>
            <a:r>
              <a:rPr lang="en-US" sz="1800" dirty="0">
                <a:latin typeface="Aptos" panose="020B0004020202020204" pitchFamily="34" charset="0"/>
              </a:rPr>
              <a:t>Alternative Hypothesis : Mean intake on workout days ≠ mean intake on non-workout days</a:t>
            </a:r>
          </a:p>
          <a:p>
            <a:pPr lvl="1"/>
            <a:r>
              <a:rPr lang="en-US" sz="1800" dirty="0">
                <a:latin typeface="Aptos" panose="020B0004020202020204" pitchFamily="34" charset="0"/>
              </a:rPr>
              <a:t>If p-value &lt; 0.05 we will reject the Null Hypothesis</a:t>
            </a:r>
          </a:p>
          <a:p>
            <a:pPr lvl="1"/>
            <a:r>
              <a:rPr lang="en-US" sz="1800" dirty="0">
                <a:latin typeface="Aptos" panose="020B0004020202020204" pitchFamily="34" charset="0"/>
              </a:rPr>
              <a:t>If p-value &gt;0.05 we will fail to reject the Null Hypothesis.</a:t>
            </a:r>
          </a:p>
        </p:txBody>
      </p:sp>
    </p:spTree>
    <p:extLst>
      <p:ext uri="{BB962C8B-B14F-4D97-AF65-F5344CB8AC3E}">
        <p14:creationId xmlns:p14="http://schemas.microsoft.com/office/powerpoint/2010/main" val="70186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19BC75-FD73-C0C9-D7DC-E93E17F221C7}"/>
              </a:ext>
            </a:extLst>
          </p:cNvPr>
          <p:cNvSpPr txBox="1"/>
          <p:nvPr/>
        </p:nvSpPr>
        <p:spPr>
          <a:xfrm>
            <a:off x="15849600" y="15316200"/>
            <a:ext cx="6096000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20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endParaRPr lang="en-US" sz="1200" dirty="0">
              <a:latin typeface="Aptos" panose="020B0004020202020204" pitchFamily="34" charset="0"/>
            </a:endParaRPr>
          </a:p>
          <a:p>
            <a:r>
              <a:rPr lang="en-US" sz="2800" dirty="0">
                <a:latin typeface="Aptos" panose="020B0004020202020204" pitchFamily="34" charset="0"/>
              </a:rPr>
              <a:t>Data </a:t>
            </a:r>
            <a:r>
              <a:rPr lang="en-US" sz="2800" dirty="0" err="1">
                <a:latin typeface="Aptos" panose="020B0004020202020204" pitchFamily="34" charset="0"/>
              </a:rPr>
              <a:t>Collection</a:t>
            </a:r>
            <a:r>
              <a:rPr lang="en-US" sz="2400" dirty="0" err="1">
                <a:latin typeface="Aptos" panose="020B0004020202020204" pitchFamily="34" charset="0"/>
              </a:rPr>
              <a:t>Variables</a:t>
            </a:r>
            <a:endParaRPr lang="en-US" sz="2400" dirty="0">
              <a:latin typeface="Aptos" panose="020B0004020202020204" pitchFamily="34" charset="0"/>
            </a:endParaRPr>
          </a:p>
          <a:p>
            <a:pPr lvl="1"/>
            <a:r>
              <a:rPr lang="en-US" sz="2400" dirty="0">
                <a:latin typeface="Aptos" panose="020B0004020202020204" pitchFamily="34" charset="0"/>
              </a:rPr>
              <a:t>Dependent </a:t>
            </a:r>
            <a:r>
              <a:rPr lang="en-US" sz="2400" dirty="0" err="1">
                <a:latin typeface="Aptos" panose="020B0004020202020204" pitchFamily="34" charset="0"/>
              </a:rPr>
              <a:t>Variable:</a:t>
            </a:r>
            <a:r>
              <a:rPr lang="en-US" sz="2000" dirty="0" err="1">
                <a:latin typeface="Aptos" panose="020B0004020202020204" pitchFamily="34" charset="0"/>
              </a:rPr>
              <a:t>Daily</a:t>
            </a:r>
            <a:r>
              <a:rPr lang="en-US" sz="2000" dirty="0">
                <a:latin typeface="Aptos" panose="020B0004020202020204" pitchFamily="34" charset="0"/>
              </a:rPr>
              <a:t> Water Intake (mL)</a:t>
            </a:r>
          </a:p>
          <a:p>
            <a:pPr lvl="1"/>
            <a:endParaRPr lang="en-US" sz="2000" dirty="0">
              <a:latin typeface="Aptos" panose="020B0004020202020204" pitchFamily="34" charset="0"/>
            </a:endParaRPr>
          </a:p>
          <a:p>
            <a:pPr lvl="2"/>
            <a:r>
              <a:rPr lang="en-US" sz="2400" dirty="0">
                <a:latin typeface="Aptos" panose="020B0004020202020204" pitchFamily="34" charset="0"/>
              </a:rPr>
              <a:t>Independent </a:t>
            </a:r>
            <a:r>
              <a:rPr lang="en-US" sz="2400" dirty="0" err="1">
                <a:latin typeface="Aptos" panose="020B0004020202020204" pitchFamily="34" charset="0"/>
              </a:rPr>
              <a:t>Variable:</a:t>
            </a:r>
            <a:r>
              <a:rPr lang="en-US" sz="2000" dirty="0" err="1">
                <a:latin typeface="Aptos" panose="020B0004020202020204" pitchFamily="34" charset="0"/>
              </a:rPr>
              <a:t>Workout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  <a:r>
              <a:rPr lang="en-US" sz="2000" dirty="0" err="1">
                <a:latin typeface="Aptos" panose="020B0004020202020204" pitchFamily="34" charset="0"/>
              </a:rPr>
              <a:t>status</a:t>
            </a:r>
            <a:r>
              <a:rPr lang="en-US" sz="1800" dirty="0" err="1">
                <a:latin typeface="Aptos" panose="020B0004020202020204" pitchFamily="34" charset="0"/>
              </a:rPr>
              <a:t>Yes</a:t>
            </a:r>
            <a:r>
              <a:rPr lang="en-US" sz="1800" dirty="0">
                <a:latin typeface="Aptos" panose="020B0004020202020204" pitchFamily="34" charset="0"/>
              </a:rPr>
              <a:t>/No</a:t>
            </a:r>
          </a:p>
          <a:p>
            <a:pPr lvl="2"/>
            <a:endParaRPr lang="en-US" sz="1800" dirty="0">
              <a:latin typeface="Aptos" panose="020B0004020202020204" pitchFamily="34" charset="0"/>
            </a:endParaRPr>
          </a:p>
          <a:p>
            <a:pPr lvl="2"/>
            <a:endParaRPr lang="en-US" sz="1800" dirty="0">
              <a:latin typeface="Aptos" panose="020B0004020202020204" pitchFamily="34" charset="0"/>
            </a:endParaRPr>
          </a:p>
          <a:p>
            <a:pPr lvl="1"/>
            <a:r>
              <a:rPr lang="en-US" sz="2400" dirty="0">
                <a:latin typeface="Aptos" panose="020B0004020202020204" pitchFamily="34" charset="0"/>
              </a:rPr>
              <a:t>Other </a:t>
            </a:r>
            <a:r>
              <a:rPr lang="en-US" sz="2400" dirty="0" err="1">
                <a:latin typeface="Aptos" panose="020B0004020202020204" pitchFamily="34" charset="0"/>
              </a:rPr>
              <a:t>Column:</a:t>
            </a:r>
            <a:r>
              <a:rPr lang="en-US" sz="2000" dirty="0" err="1">
                <a:latin typeface="Aptos" panose="020B0004020202020204" pitchFamily="34" charset="0"/>
              </a:rPr>
              <a:t>Day</a:t>
            </a:r>
            <a:r>
              <a:rPr lang="en-US" sz="2000" dirty="0">
                <a:latin typeface="Aptos" panose="020B0004020202020204" pitchFamily="34" charset="0"/>
              </a:rPr>
              <a:t>(identifier)</a:t>
            </a:r>
          </a:p>
          <a:p>
            <a:pPr lvl="1"/>
            <a:endParaRPr lang="en-US" sz="2000" dirty="0">
              <a:latin typeface="Aptos" panose="020B0004020202020204" pitchFamily="34" charset="0"/>
            </a:endParaRPr>
          </a:p>
          <a:p>
            <a:pPr lvl="1"/>
            <a:endParaRPr lang="en-US" sz="2000" dirty="0"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D90FB4-47E1-BB1A-062B-E62599089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7013" y="15316200"/>
            <a:ext cx="4733637" cy="55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61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2402DF-7533-A209-F522-2DB7BD599AA0}"/>
              </a:ext>
            </a:extLst>
          </p:cNvPr>
          <p:cNvSpPr txBox="1"/>
          <p:nvPr/>
        </p:nvSpPr>
        <p:spPr>
          <a:xfrm>
            <a:off x="21814972" y="15510418"/>
            <a:ext cx="609600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</a:rPr>
              <a:t>•</a:t>
            </a:r>
            <a:r>
              <a:rPr lang="en-US" sz="1800" b="1" dirty="0">
                <a:latin typeface="Arial" panose="020B0604020202020204" pitchFamily="34" charset="0"/>
              </a:rPr>
              <a:t>Significance level</a:t>
            </a:r>
            <a:r>
              <a:rPr lang="en-US" sz="1800" dirty="0">
                <a:latin typeface="Arial" panose="020B0604020202020204" pitchFamily="34" charset="0"/>
              </a:rPr>
              <a:t>•</a:t>
            </a:r>
            <a:r>
              <a:rPr lang="en-US" sz="1800" b="1" dirty="0">
                <a:latin typeface="Arial" panose="020B0604020202020204" pitchFamily="34" charset="0"/>
              </a:rPr>
              <a:t>0.05</a:t>
            </a:r>
            <a:endParaRPr lang="en-US" sz="1800" dirty="0">
              <a:latin typeface="Arial" panose="020B0604020202020204" pitchFamily="34" charset="0"/>
            </a:endParaRPr>
          </a:p>
          <a:p>
            <a:endParaRPr lang="en-US" sz="1800" dirty="0">
              <a:latin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</a:rPr>
              <a:t>•</a:t>
            </a:r>
            <a:r>
              <a:rPr lang="en-US" sz="1800" b="1" dirty="0">
                <a:latin typeface="Arial" panose="020B0604020202020204" pitchFamily="34" charset="0"/>
              </a:rPr>
              <a:t>One-Sample </a:t>
            </a:r>
            <a:r>
              <a:rPr lang="en-US" sz="1800" b="1" dirty="0" err="1">
                <a:latin typeface="Arial" panose="020B0604020202020204" pitchFamily="34" charset="0"/>
              </a:rPr>
              <a:t>t-test</a:t>
            </a:r>
            <a:r>
              <a:rPr lang="en-US" sz="1800" dirty="0" err="1">
                <a:latin typeface="Arial" panose="020B0604020202020204" pitchFamily="34" charset="0"/>
              </a:rPr>
              <a:t>•Mean</a:t>
            </a:r>
            <a:r>
              <a:rPr lang="en-US" sz="1800" dirty="0">
                <a:latin typeface="Arial" panose="020B0604020202020204" pitchFamily="34" charset="0"/>
              </a:rPr>
              <a:t> intake = 2528.57 mL/day</a:t>
            </a:r>
          </a:p>
          <a:p>
            <a:r>
              <a:rPr lang="en-US" sz="1800" dirty="0">
                <a:latin typeface="Arial" panose="020B0604020202020204" pitchFamily="34" charset="0"/>
              </a:rPr>
              <a:t>•p-value = 7.083e-12. we reject </a:t>
            </a:r>
            <a:r>
              <a:rPr lang="en-US" sz="1800" dirty="0">
                <a:latin typeface="Aptos" panose="020B0004020202020204" pitchFamily="34" charset="0"/>
              </a:rPr>
              <a:t>H₀.</a:t>
            </a:r>
          </a:p>
          <a:p>
            <a:endParaRPr lang="en-US" sz="1800" dirty="0">
              <a:latin typeface="Aptos" panose="020B00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</a:rPr>
              <a:t>•Conclusion: Intake is significantly lower than 3 liters/day.</a:t>
            </a:r>
          </a:p>
          <a:p>
            <a:r>
              <a:rPr lang="en-US" sz="1800" dirty="0">
                <a:latin typeface="Arial" panose="020B0604020202020204" pitchFamily="34" charset="0"/>
              </a:rPr>
              <a:t>•</a:t>
            </a:r>
            <a:r>
              <a:rPr lang="en-US" sz="1800" b="1" dirty="0">
                <a:latin typeface="Arial" panose="020B0604020202020204" pitchFamily="34" charset="0"/>
              </a:rPr>
              <a:t>Two-sample t-test:</a:t>
            </a:r>
            <a:r>
              <a:rPr lang="en-US" sz="1800" dirty="0">
                <a:latin typeface="Arial" panose="020B0604020202020204" pitchFamily="34" charset="0"/>
              </a:rPr>
              <a:t>•Mean intake workout days = 2737.5 </a:t>
            </a:r>
          </a:p>
          <a:p>
            <a:r>
              <a:rPr lang="en-US" sz="1800" dirty="0">
                <a:latin typeface="Arial" panose="020B0604020202020204" pitchFamily="34" charset="0"/>
              </a:rPr>
              <a:t>•Mean intake non-workout days = 2250</a:t>
            </a:r>
          </a:p>
          <a:p>
            <a:r>
              <a:rPr lang="en-US" sz="1800" dirty="0">
                <a:latin typeface="Arial" panose="020B0604020202020204" pitchFamily="34" charset="0"/>
              </a:rPr>
              <a:t>•p-value = 0.01699, we reject </a:t>
            </a:r>
            <a:r>
              <a:rPr lang="en-US" sz="1800" dirty="0">
                <a:latin typeface="Aptos" panose="020B0004020202020204" pitchFamily="34" charset="0"/>
              </a:rPr>
              <a:t>H₀.</a:t>
            </a:r>
          </a:p>
          <a:p>
            <a:endParaRPr lang="en-US" sz="1800" dirty="0">
              <a:latin typeface="Aptos" panose="020B00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</a:rPr>
              <a:t>•Conclusion: Intake is significantly higher on workout days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49DB50-BA9D-A7B0-7BF3-4E4AAEA59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3150" y="15301149"/>
            <a:ext cx="7261079" cy="371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958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FB042A-EDCB-1B72-5C47-580C137CE1C5}"/>
              </a:ext>
            </a:extLst>
          </p:cNvPr>
          <p:cNvSpPr txBox="1"/>
          <p:nvPr/>
        </p:nvSpPr>
        <p:spPr>
          <a:xfrm>
            <a:off x="21869399" y="13316426"/>
            <a:ext cx="6096000" cy="664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200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marR="132380"/>
            <a:r>
              <a:rPr lang="en-US" sz="1800" dirty="0">
                <a:latin typeface="Lucida Console" panose="020B0609040504020204" pitchFamily="49" charset="0"/>
              </a:rPr>
              <a:t>One Sample t-test</a:t>
            </a:r>
          </a:p>
          <a:p>
            <a:pPr marR="101100"/>
            <a:r>
              <a:rPr lang="en-US" sz="1800" dirty="0">
                <a:latin typeface="Lucida Console" panose="020B0609040504020204" pitchFamily="49" charset="0"/>
              </a:rPr>
              <a:t>data: </a:t>
            </a:r>
            <a:r>
              <a:rPr lang="en-US" sz="1800" dirty="0" err="1">
                <a:latin typeface="Lucida Console" panose="020B0609040504020204" pitchFamily="49" charset="0"/>
              </a:rPr>
              <a:t>Daily_water_intake$water_intake</a:t>
            </a:r>
            <a:endParaRPr lang="en-US" sz="1800" dirty="0">
              <a:latin typeface="Lucida Console" panose="020B0609040504020204" pitchFamily="49" charset="0"/>
            </a:endParaRPr>
          </a:p>
          <a:p>
            <a:pPr marR="96750"/>
            <a:r>
              <a:rPr lang="fr-FR" sz="1800" dirty="0">
                <a:latin typeface="Lucida Console" panose="020B0609040504020204" pitchFamily="49" charset="0"/>
              </a:rPr>
              <a:t>t = 22.836, </a:t>
            </a:r>
            <a:r>
              <a:rPr lang="fr-FR" sz="1800" dirty="0" err="1">
                <a:latin typeface="Lucida Console" panose="020B0609040504020204" pitchFamily="49" charset="0"/>
              </a:rPr>
              <a:t>df</a:t>
            </a:r>
            <a:r>
              <a:rPr lang="fr-FR" sz="1800" dirty="0">
                <a:latin typeface="Lucida Console" panose="020B0609040504020204" pitchFamily="49" charset="0"/>
              </a:rPr>
              <a:t> = 13, p-value = 7.083e-12</a:t>
            </a:r>
          </a:p>
          <a:p>
            <a:pPr marR="94580"/>
            <a:r>
              <a:rPr lang="en-US" sz="1800" dirty="0">
                <a:latin typeface="Lucida Console" panose="020B0609040504020204" pitchFamily="49" charset="0"/>
              </a:rPr>
              <a:t>alternative hypothesis: true mean is not </a:t>
            </a:r>
          </a:p>
          <a:p>
            <a:pPr marR="162000"/>
            <a:r>
              <a:rPr lang="en-US" sz="1800" dirty="0">
                <a:latin typeface="Lucida Console" panose="020B0609040504020204" pitchFamily="49" charset="0"/>
              </a:rPr>
              <a:t>equal to 3</a:t>
            </a:r>
          </a:p>
          <a:p>
            <a:pPr marR="116330"/>
            <a:r>
              <a:rPr lang="en-US" sz="1800" dirty="0">
                <a:latin typeface="Lucida Console" panose="020B0609040504020204" pitchFamily="49" charset="0"/>
              </a:rPr>
              <a:t>95 percent confidence interval: </a:t>
            </a:r>
          </a:p>
          <a:p>
            <a:pPr marR="146780"/>
            <a:r>
              <a:rPr lang="en-US" sz="1800" dirty="0">
                <a:latin typeface="Lucida Console" panose="020B0609040504020204" pitchFamily="49" charset="0"/>
              </a:rPr>
              <a:t>2289.646 2767.496</a:t>
            </a:r>
          </a:p>
          <a:p>
            <a:pPr marR="146780"/>
            <a:r>
              <a:rPr lang="en-US" sz="1800" dirty="0">
                <a:latin typeface="Lucida Console" panose="020B0609040504020204" pitchFamily="49" charset="0"/>
              </a:rPr>
              <a:t>sample estimates:</a:t>
            </a:r>
          </a:p>
          <a:p>
            <a:pPr marR="162000"/>
            <a:r>
              <a:rPr lang="en-US" sz="1800" dirty="0">
                <a:latin typeface="Lucida Console" panose="020B0609040504020204" pitchFamily="49" charset="0"/>
              </a:rPr>
              <a:t>mean of x </a:t>
            </a:r>
          </a:p>
          <a:p>
            <a:pPr marR="166350"/>
            <a:r>
              <a:rPr lang="en-US" sz="1800" dirty="0">
                <a:latin typeface="Lucida Console" panose="020B0609040504020204" pitchFamily="49" charset="0"/>
              </a:rPr>
              <a:t>2528.571 </a:t>
            </a:r>
          </a:p>
          <a:p>
            <a:pPr marR="146780"/>
            <a:r>
              <a:rPr lang="en-US" sz="1800" dirty="0">
                <a:latin typeface="Lucida Console" panose="020B0609040504020204" pitchFamily="49" charset="0"/>
              </a:rPr>
              <a:t>Two Sample t-test</a:t>
            </a:r>
          </a:p>
          <a:p>
            <a:pPr marR="118500"/>
            <a:r>
              <a:rPr lang="en-US" sz="1800" dirty="0">
                <a:latin typeface="Lucida Console" panose="020B0609040504020204" pitchFamily="49" charset="0"/>
              </a:rPr>
              <a:t>data: </a:t>
            </a:r>
            <a:r>
              <a:rPr lang="en-US" sz="1800" dirty="0" err="1">
                <a:latin typeface="Lucida Console" panose="020B0609040504020204" pitchFamily="49" charset="0"/>
              </a:rPr>
              <a:t>water_intake</a:t>
            </a:r>
            <a:r>
              <a:rPr lang="en-US" sz="1800" dirty="0">
                <a:latin typeface="Lucida Console" panose="020B0609040504020204" pitchFamily="49" charset="0"/>
              </a:rPr>
              <a:t> by workout</a:t>
            </a:r>
          </a:p>
          <a:p>
            <a:pPr marR="90230"/>
            <a:r>
              <a:rPr lang="en-US" sz="1800" dirty="0">
                <a:latin typeface="Lucida Console" panose="020B0609040504020204" pitchFamily="49" charset="0"/>
              </a:rPr>
              <a:t>t = -3.0396, </a:t>
            </a:r>
            <a:r>
              <a:rPr lang="en-US" sz="1800" dirty="0" err="1">
                <a:latin typeface="Lucida Console" panose="020B0609040504020204" pitchFamily="49" charset="0"/>
              </a:rPr>
              <a:t>df</a:t>
            </a:r>
            <a:r>
              <a:rPr lang="en-US" sz="1800" dirty="0">
                <a:latin typeface="Lucida Console" panose="020B0609040504020204" pitchFamily="49" charset="0"/>
              </a:rPr>
              <a:t> = 7.6326, p-value = 0.01699</a:t>
            </a:r>
          </a:p>
          <a:p>
            <a:pPr marR="90230"/>
            <a:r>
              <a:rPr lang="en-US" sz="1800" dirty="0">
                <a:latin typeface="Lucida Console" panose="020B0609040504020204" pitchFamily="49" charset="0"/>
              </a:rPr>
              <a:t>alternative hypothesis: true difference in </a:t>
            </a:r>
          </a:p>
          <a:p>
            <a:pPr marR="88050"/>
            <a:r>
              <a:rPr lang="en-US" sz="1800" dirty="0">
                <a:latin typeface="Lucida Console" panose="020B0609040504020204" pitchFamily="49" charset="0"/>
              </a:rPr>
              <a:t>means between group No and group Yes is not </a:t>
            </a:r>
          </a:p>
          <a:p>
            <a:pPr marR="162000"/>
            <a:r>
              <a:rPr lang="en-US" sz="1800" dirty="0">
                <a:latin typeface="Lucida Console" panose="020B0609040504020204" pitchFamily="49" charset="0"/>
              </a:rPr>
              <a:t>equal to 0</a:t>
            </a:r>
          </a:p>
          <a:p>
            <a:pPr marR="116330"/>
            <a:r>
              <a:rPr lang="en-US" sz="1800" dirty="0">
                <a:latin typeface="Lucida Console" panose="020B0609040504020204" pitchFamily="49" charset="0"/>
              </a:rPr>
              <a:t>95 percent confidence interval: </a:t>
            </a:r>
          </a:p>
          <a:p>
            <a:pPr marR="142430"/>
            <a:r>
              <a:rPr lang="en-US" sz="1800" dirty="0">
                <a:latin typeface="Lucida Console" panose="020B0609040504020204" pitchFamily="49" charset="0"/>
              </a:rPr>
              <a:t>-860.4695 -114.5305</a:t>
            </a:r>
          </a:p>
          <a:p>
            <a:pPr marR="146780"/>
            <a:r>
              <a:rPr lang="en-US" sz="1800" dirty="0">
                <a:latin typeface="Lucida Console" panose="020B0609040504020204" pitchFamily="49" charset="0"/>
              </a:rPr>
              <a:t>sample estimates: </a:t>
            </a:r>
          </a:p>
          <a:p>
            <a:pPr marR="107630"/>
            <a:r>
              <a:rPr lang="en-US" sz="1800" dirty="0">
                <a:latin typeface="Lucida Console" panose="020B0609040504020204" pitchFamily="49" charset="0"/>
              </a:rPr>
              <a:t>mean in group No mean in group Yes </a:t>
            </a:r>
          </a:p>
          <a:p>
            <a:pPr marR="129380"/>
            <a:r>
              <a:rPr lang="en-US" sz="1800" dirty="0">
                <a:latin typeface="Lucida Console" panose="020B0609040504020204" pitchFamily="49" charset="0"/>
              </a:rPr>
              <a:t>2250.0 2737.5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B6C015-AD91-8332-059C-742ECB14D0D7}"/>
              </a:ext>
            </a:extLst>
          </p:cNvPr>
          <p:cNvSpPr txBox="1"/>
          <p:nvPr/>
        </p:nvSpPr>
        <p:spPr>
          <a:xfrm>
            <a:off x="15849600" y="13490921"/>
            <a:ext cx="6096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20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R="32180"/>
            <a:r>
              <a:rPr lang="en-US" sz="1800" b="1" dirty="0">
                <a:latin typeface="Aptos" panose="020B0004020202020204" pitchFamily="34" charset="0"/>
              </a:rPr>
              <a:t>Slide 6: Conclusion &amp; Implications</a:t>
            </a:r>
            <a:endParaRPr lang="en-US" sz="1800" dirty="0">
              <a:latin typeface="Aptos" panose="020B0004020202020204" pitchFamily="34" charset="0"/>
            </a:endParaRPr>
          </a:p>
          <a:p>
            <a:pPr lvl="1"/>
            <a:r>
              <a:rPr lang="en-US" sz="1800" b="1" dirty="0">
                <a:latin typeface="Aptos" panose="020B0004020202020204" pitchFamily="34" charset="0"/>
              </a:rPr>
              <a:t>Key </a:t>
            </a:r>
            <a:r>
              <a:rPr lang="en-US" sz="1800" b="1" dirty="0" err="1">
                <a:latin typeface="Aptos" panose="020B0004020202020204" pitchFamily="34" charset="0"/>
              </a:rPr>
              <a:t>findings:</a:t>
            </a:r>
            <a:r>
              <a:rPr lang="en-US" sz="1800" dirty="0" err="1">
                <a:latin typeface="Aptos" panose="020B0004020202020204" pitchFamily="34" charset="0"/>
              </a:rPr>
              <a:t>Average</a:t>
            </a:r>
            <a:r>
              <a:rPr lang="en-US" sz="1800" dirty="0">
                <a:latin typeface="Aptos" panose="020B0004020202020204" pitchFamily="34" charset="0"/>
              </a:rPr>
              <a:t> intake &lt; recommended 3 liters/day.</a:t>
            </a:r>
          </a:p>
          <a:p>
            <a:pPr lvl="1"/>
            <a:r>
              <a:rPr lang="en-US" sz="1800" dirty="0">
                <a:latin typeface="Aptos" panose="020B0004020202020204" pitchFamily="34" charset="0"/>
              </a:rPr>
              <a:t>Workout status influences intake.</a:t>
            </a:r>
          </a:p>
          <a:p>
            <a:pPr lvl="1"/>
            <a:endParaRPr lang="en-US" sz="1800" dirty="0">
              <a:latin typeface="Aptos" panose="020B0004020202020204" pitchFamily="34" charset="0"/>
            </a:endParaRPr>
          </a:p>
          <a:p>
            <a:pPr lvl="1"/>
            <a:r>
              <a:rPr lang="en-US" sz="1800" b="1" dirty="0" err="1">
                <a:latin typeface="Aptos" panose="020B0004020202020204" pitchFamily="34" charset="0"/>
              </a:rPr>
              <a:t>Implications:</a:t>
            </a:r>
            <a:r>
              <a:rPr lang="en-US" sz="1800" dirty="0" err="1">
                <a:latin typeface="Aptos" panose="020B0004020202020204" pitchFamily="34" charset="0"/>
              </a:rPr>
              <a:t>Students</a:t>
            </a:r>
            <a:r>
              <a:rPr lang="en-US" sz="1800" dirty="0">
                <a:latin typeface="Aptos" panose="020B0004020202020204" pitchFamily="34" charset="0"/>
              </a:rPr>
              <a:t> may need to increase hydration.</a:t>
            </a:r>
          </a:p>
          <a:p>
            <a:pPr lvl="1"/>
            <a:r>
              <a:rPr lang="en-US" sz="1800" dirty="0">
                <a:latin typeface="Aptos" panose="020B0004020202020204" pitchFamily="34" charset="0"/>
              </a:rPr>
              <a:t>Workout days show different hydration intake.</a:t>
            </a:r>
          </a:p>
          <a:p>
            <a:pPr lvl="1"/>
            <a:endParaRPr lang="en-US" sz="1800" dirty="0">
              <a:latin typeface="Aptos" panose="020B0004020202020204" pitchFamily="34" charset="0"/>
            </a:endParaRPr>
          </a:p>
          <a:p>
            <a:pPr lvl="1"/>
            <a:r>
              <a:rPr lang="en-US" sz="1800" b="1" dirty="0">
                <a:latin typeface="Aptos" panose="020B0004020202020204" pitchFamily="34" charset="0"/>
              </a:rPr>
              <a:t>Future </a:t>
            </a:r>
            <a:r>
              <a:rPr lang="en-US" sz="1800" b="1" dirty="0" err="1">
                <a:latin typeface="Aptos" panose="020B0004020202020204" pitchFamily="34" charset="0"/>
              </a:rPr>
              <a:t>directions:</a:t>
            </a:r>
            <a:r>
              <a:rPr lang="en-US" sz="1800" dirty="0" err="1">
                <a:latin typeface="Aptos" panose="020B0004020202020204" pitchFamily="34" charset="0"/>
              </a:rPr>
              <a:t>Larger</a:t>
            </a:r>
            <a:r>
              <a:rPr lang="en-US" sz="1800" dirty="0">
                <a:latin typeface="Aptos" panose="020B0004020202020204" pitchFamily="34" charset="0"/>
              </a:rPr>
              <a:t> sample size</a:t>
            </a:r>
          </a:p>
          <a:p>
            <a:pPr lvl="1"/>
            <a:r>
              <a:rPr lang="en-US" sz="1800" dirty="0">
                <a:latin typeface="Aptos" panose="020B0004020202020204" pitchFamily="34" charset="0"/>
              </a:rPr>
              <a:t>Explore other factors (diet, weather, exercise intensity)</a:t>
            </a:r>
          </a:p>
          <a:p>
            <a:pPr lvl="1"/>
            <a:endParaRPr lang="en-US" sz="18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544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74461-23CF-3BFC-C7A9-C62F80727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565EAF-95B5-D7FF-6F56-D21063C46B37}"/>
              </a:ext>
            </a:extLst>
          </p:cNvPr>
          <p:cNvSpPr txBox="1"/>
          <p:nvPr/>
        </p:nvSpPr>
        <p:spPr>
          <a:xfrm>
            <a:off x="-1657350" y="-1710214"/>
            <a:ext cx="44805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9600" dirty="0">
              <a:solidFill>
                <a:srgbClr val="000000"/>
              </a:solidFill>
              <a:latin typeface="Aptos Display" panose="020B0004020202020204" pitchFamily="34" charset="0"/>
            </a:endParaRPr>
          </a:p>
          <a:p>
            <a:endParaRPr lang="en-US" sz="9600" dirty="0">
              <a:latin typeface="Aptos Display" panose="020B0004020202020204" pitchFamily="34" charset="0"/>
            </a:endParaRPr>
          </a:p>
          <a:p>
            <a:pPr marR="25070" algn="ctr"/>
            <a:r>
              <a:rPr lang="en-US" sz="9600" dirty="0">
                <a:latin typeface="Aptos Display" panose="020B0004020202020204" pitchFamily="34" charset="0"/>
              </a:rPr>
              <a:t> Proper Hydration is a Critical Factor for a Healthy Lifestyle </a:t>
            </a:r>
            <a:r>
              <a:rPr lang="en-US" sz="9600" dirty="0">
                <a:latin typeface="Aptos" panose="020B0004020202020204" pitchFamily="34" charset="0"/>
              </a:rPr>
              <a:t>Daily Water Intake</a:t>
            </a:r>
            <a:endParaRPr lang="en-US" sz="9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0D7507-529A-B1BF-8072-30FBBA8205FA}"/>
              </a:ext>
            </a:extLst>
          </p:cNvPr>
          <p:cNvSpPr txBox="1"/>
          <p:nvPr/>
        </p:nvSpPr>
        <p:spPr>
          <a:xfrm>
            <a:off x="2453522" y="26163379"/>
            <a:ext cx="780747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200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marR="132380"/>
            <a:r>
              <a:rPr lang="en-US" sz="2400" dirty="0">
                <a:latin typeface="Lucida Console" panose="020B0609040504020204" pitchFamily="49" charset="0"/>
              </a:rPr>
              <a:t>One Sample t-test</a:t>
            </a:r>
          </a:p>
          <a:p>
            <a:pPr marR="101100"/>
            <a:r>
              <a:rPr lang="en-US" sz="2400" dirty="0">
                <a:latin typeface="Lucida Console" panose="020B0609040504020204" pitchFamily="49" charset="0"/>
              </a:rPr>
              <a:t>data: </a:t>
            </a:r>
            <a:r>
              <a:rPr lang="en-US" sz="2400" dirty="0" err="1">
                <a:latin typeface="Lucida Console" panose="020B0609040504020204" pitchFamily="49" charset="0"/>
              </a:rPr>
              <a:t>Daily_water_intake$water_intake</a:t>
            </a:r>
            <a:endParaRPr lang="en-US" sz="2400" dirty="0">
              <a:latin typeface="Lucida Console" panose="020B0609040504020204" pitchFamily="49" charset="0"/>
            </a:endParaRPr>
          </a:p>
          <a:p>
            <a:pPr marR="96750"/>
            <a:r>
              <a:rPr lang="fr-FR" sz="2400" dirty="0">
                <a:latin typeface="Lucida Console" panose="020B0609040504020204" pitchFamily="49" charset="0"/>
              </a:rPr>
              <a:t>t = 22.836, </a:t>
            </a:r>
            <a:r>
              <a:rPr lang="fr-FR" sz="2400" dirty="0" err="1">
                <a:latin typeface="Lucida Console" panose="020B0609040504020204" pitchFamily="49" charset="0"/>
              </a:rPr>
              <a:t>df</a:t>
            </a:r>
            <a:r>
              <a:rPr lang="fr-FR" sz="2400" dirty="0">
                <a:latin typeface="Lucida Console" panose="020B0609040504020204" pitchFamily="49" charset="0"/>
              </a:rPr>
              <a:t> = 13, p-value = 7.083e-12</a:t>
            </a:r>
          </a:p>
          <a:p>
            <a:pPr marR="94580"/>
            <a:r>
              <a:rPr lang="en-US" sz="2400" dirty="0">
                <a:latin typeface="Lucida Console" panose="020B0609040504020204" pitchFamily="49" charset="0"/>
              </a:rPr>
              <a:t>alternative hypothesis: true mean is not </a:t>
            </a:r>
          </a:p>
          <a:p>
            <a:pPr marR="162000"/>
            <a:r>
              <a:rPr lang="en-US" sz="2400" dirty="0">
                <a:latin typeface="Lucida Console" panose="020B0609040504020204" pitchFamily="49" charset="0"/>
              </a:rPr>
              <a:t>equal to 3</a:t>
            </a:r>
          </a:p>
          <a:p>
            <a:pPr marR="116330"/>
            <a:r>
              <a:rPr lang="en-US" sz="2400" dirty="0">
                <a:latin typeface="Lucida Console" panose="020B0609040504020204" pitchFamily="49" charset="0"/>
              </a:rPr>
              <a:t>95 percent confidence interval: </a:t>
            </a:r>
          </a:p>
          <a:p>
            <a:pPr marR="146780"/>
            <a:r>
              <a:rPr lang="en-US" sz="2400" dirty="0">
                <a:latin typeface="Lucida Console" panose="020B0609040504020204" pitchFamily="49" charset="0"/>
              </a:rPr>
              <a:t>2289.646 2767.496</a:t>
            </a:r>
          </a:p>
          <a:p>
            <a:pPr marR="146780"/>
            <a:r>
              <a:rPr lang="en-US" sz="2400" dirty="0">
                <a:latin typeface="Lucida Console" panose="020B0609040504020204" pitchFamily="49" charset="0"/>
              </a:rPr>
              <a:t>sample estimates:</a:t>
            </a:r>
          </a:p>
          <a:p>
            <a:pPr marR="162000"/>
            <a:r>
              <a:rPr lang="en-US" sz="2400" dirty="0">
                <a:latin typeface="Lucida Console" panose="020B0609040504020204" pitchFamily="49" charset="0"/>
              </a:rPr>
              <a:t>mean of x </a:t>
            </a:r>
          </a:p>
          <a:p>
            <a:pPr marR="166350"/>
            <a:r>
              <a:rPr lang="en-US" sz="2400" dirty="0">
                <a:latin typeface="Lucida Console" panose="020B0609040504020204" pitchFamily="49" charset="0"/>
              </a:rPr>
              <a:t>2528.571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299E44-C52F-29B3-6D95-6A2511050734}"/>
              </a:ext>
            </a:extLst>
          </p:cNvPr>
          <p:cNvSpPr txBox="1"/>
          <p:nvPr/>
        </p:nvSpPr>
        <p:spPr>
          <a:xfrm>
            <a:off x="29627045" y="25459576"/>
            <a:ext cx="16497300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400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R="32180"/>
            <a:r>
              <a:rPr lang="en-US" sz="4000" b="1" dirty="0">
                <a:latin typeface="Aptos" panose="020B0004020202020204" pitchFamily="34" charset="0"/>
              </a:rPr>
              <a:t>Slide 6: Conclusion &amp; Implications</a:t>
            </a:r>
            <a:endParaRPr lang="en-US" sz="4000" dirty="0">
              <a:latin typeface="Aptos" panose="020B0004020202020204" pitchFamily="34" charset="0"/>
            </a:endParaRPr>
          </a:p>
          <a:p>
            <a:pPr lvl="1"/>
            <a:r>
              <a:rPr lang="en-US" sz="4000" b="1" dirty="0">
                <a:latin typeface="Aptos" panose="020B0004020202020204" pitchFamily="34" charset="0"/>
              </a:rPr>
              <a:t>Key </a:t>
            </a:r>
            <a:r>
              <a:rPr lang="en-US" sz="4000" b="1" dirty="0" err="1">
                <a:latin typeface="Aptos" panose="020B0004020202020204" pitchFamily="34" charset="0"/>
              </a:rPr>
              <a:t>findings:</a:t>
            </a:r>
            <a:r>
              <a:rPr lang="en-US" sz="4000" dirty="0" err="1">
                <a:latin typeface="Aptos" panose="020B0004020202020204" pitchFamily="34" charset="0"/>
              </a:rPr>
              <a:t>Average</a:t>
            </a:r>
            <a:r>
              <a:rPr lang="en-US" sz="4000" dirty="0">
                <a:latin typeface="Aptos" panose="020B0004020202020204" pitchFamily="34" charset="0"/>
              </a:rPr>
              <a:t> intake &lt; recommended 3 liters/day.</a:t>
            </a:r>
          </a:p>
          <a:p>
            <a:pPr lvl="1"/>
            <a:r>
              <a:rPr lang="en-US" sz="4000" dirty="0">
                <a:latin typeface="Aptos" panose="020B0004020202020204" pitchFamily="34" charset="0"/>
              </a:rPr>
              <a:t>Workout status influences intake.</a:t>
            </a:r>
          </a:p>
          <a:p>
            <a:pPr lvl="1"/>
            <a:endParaRPr lang="en-US" sz="4000" dirty="0">
              <a:latin typeface="Aptos" panose="020B0004020202020204" pitchFamily="34" charset="0"/>
            </a:endParaRPr>
          </a:p>
          <a:p>
            <a:pPr lvl="1"/>
            <a:r>
              <a:rPr lang="en-US" sz="4000" b="1" dirty="0" err="1">
                <a:latin typeface="Aptos" panose="020B0004020202020204" pitchFamily="34" charset="0"/>
              </a:rPr>
              <a:t>Implications:</a:t>
            </a:r>
            <a:r>
              <a:rPr lang="en-US" sz="4000" dirty="0" err="1">
                <a:latin typeface="Aptos" panose="020B0004020202020204" pitchFamily="34" charset="0"/>
              </a:rPr>
              <a:t>Students</a:t>
            </a:r>
            <a:r>
              <a:rPr lang="en-US" sz="4000" dirty="0">
                <a:latin typeface="Aptos" panose="020B0004020202020204" pitchFamily="34" charset="0"/>
              </a:rPr>
              <a:t> may need to increase hydration.</a:t>
            </a:r>
          </a:p>
          <a:p>
            <a:pPr lvl="1"/>
            <a:r>
              <a:rPr lang="en-US" sz="4000" dirty="0">
                <a:latin typeface="Aptos" panose="020B0004020202020204" pitchFamily="34" charset="0"/>
              </a:rPr>
              <a:t>Workout days show different hydration intake.</a:t>
            </a:r>
          </a:p>
          <a:p>
            <a:pPr lvl="1"/>
            <a:endParaRPr lang="en-US" sz="4000" dirty="0">
              <a:latin typeface="Aptos" panose="020B0004020202020204" pitchFamily="34" charset="0"/>
            </a:endParaRPr>
          </a:p>
          <a:p>
            <a:pPr lvl="1"/>
            <a:r>
              <a:rPr lang="en-US" sz="4000" b="1" dirty="0">
                <a:latin typeface="Aptos" panose="020B0004020202020204" pitchFamily="34" charset="0"/>
              </a:rPr>
              <a:t>Future </a:t>
            </a:r>
            <a:r>
              <a:rPr lang="en-US" sz="4000" b="1" dirty="0" err="1">
                <a:latin typeface="Aptos" panose="020B0004020202020204" pitchFamily="34" charset="0"/>
              </a:rPr>
              <a:t>directions:</a:t>
            </a:r>
            <a:r>
              <a:rPr lang="en-US" sz="4000" dirty="0" err="1">
                <a:latin typeface="Aptos" panose="020B0004020202020204" pitchFamily="34" charset="0"/>
              </a:rPr>
              <a:t>Larger</a:t>
            </a:r>
            <a:r>
              <a:rPr lang="en-US" sz="4000" dirty="0">
                <a:latin typeface="Aptos" panose="020B0004020202020204" pitchFamily="34" charset="0"/>
              </a:rPr>
              <a:t> sample size</a:t>
            </a:r>
          </a:p>
          <a:p>
            <a:pPr lvl="1"/>
            <a:r>
              <a:rPr lang="en-US" sz="4000" dirty="0">
                <a:latin typeface="Aptos" panose="020B0004020202020204" pitchFamily="34" charset="0"/>
              </a:rPr>
              <a:t>Explore other factors (diet, weather, exercise intensity)</a:t>
            </a:r>
          </a:p>
          <a:p>
            <a:pPr lvl="1"/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AB6778-BDD7-12F4-1DEE-9554CB320969}"/>
              </a:ext>
            </a:extLst>
          </p:cNvPr>
          <p:cNvSpPr txBox="1"/>
          <p:nvPr/>
        </p:nvSpPr>
        <p:spPr>
          <a:xfrm>
            <a:off x="29070300" y="16508736"/>
            <a:ext cx="18602325" cy="7232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</a:rPr>
              <a:t>•</a:t>
            </a:r>
            <a:r>
              <a:rPr lang="en-US" sz="4000" b="1" dirty="0">
                <a:latin typeface="Arial" panose="020B0604020202020204" pitchFamily="34" charset="0"/>
              </a:rPr>
              <a:t>Significance level</a:t>
            </a:r>
            <a:r>
              <a:rPr lang="en-US" sz="4000" dirty="0">
                <a:latin typeface="Arial" panose="020B0604020202020204" pitchFamily="34" charset="0"/>
              </a:rPr>
              <a:t>•</a:t>
            </a:r>
            <a:r>
              <a:rPr lang="en-US" sz="4000" b="1" dirty="0">
                <a:latin typeface="Arial" panose="020B0604020202020204" pitchFamily="34" charset="0"/>
              </a:rPr>
              <a:t>0.05</a:t>
            </a:r>
            <a:endParaRPr lang="en-US" sz="4000" dirty="0">
              <a:latin typeface="Arial" panose="020B0604020202020204" pitchFamily="34" charset="0"/>
            </a:endParaRPr>
          </a:p>
          <a:p>
            <a:endParaRPr lang="en-US" sz="4000" dirty="0">
              <a:latin typeface="Arial" panose="020B0604020202020204" pitchFamily="34" charset="0"/>
            </a:endParaRPr>
          </a:p>
          <a:p>
            <a:r>
              <a:rPr lang="en-US" sz="4000" dirty="0">
                <a:latin typeface="Arial" panose="020B0604020202020204" pitchFamily="34" charset="0"/>
              </a:rPr>
              <a:t>•</a:t>
            </a:r>
            <a:r>
              <a:rPr lang="en-US" sz="4000" b="1" dirty="0">
                <a:latin typeface="Arial" panose="020B0604020202020204" pitchFamily="34" charset="0"/>
              </a:rPr>
              <a:t>One-Sample </a:t>
            </a:r>
            <a:r>
              <a:rPr lang="en-US" sz="4000" b="1" dirty="0" err="1">
                <a:latin typeface="Arial" panose="020B0604020202020204" pitchFamily="34" charset="0"/>
              </a:rPr>
              <a:t>t-test</a:t>
            </a:r>
            <a:r>
              <a:rPr lang="en-US" sz="4000" dirty="0" err="1">
                <a:latin typeface="Arial" panose="020B0604020202020204" pitchFamily="34" charset="0"/>
              </a:rPr>
              <a:t>•Mean</a:t>
            </a:r>
            <a:r>
              <a:rPr lang="en-US" sz="4000" dirty="0">
                <a:latin typeface="Arial" panose="020B0604020202020204" pitchFamily="34" charset="0"/>
              </a:rPr>
              <a:t> intake = 2528.57 mL/day</a:t>
            </a:r>
          </a:p>
          <a:p>
            <a:r>
              <a:rPr lang="en-US" sz="4000" dirty="0">
                <a:latin typeface="Arial" panose="020B0604020202020204" pitchFamily="34" charset="0"/>
              </a:rPr>
              <a:t>•p-value = 7.083e-12. we reject </a:t>
            </a:r>
            <a:r>
              <a:rPr lang="en-US" sz="4000" dirty="0">
                <a:latin typeface="Aptos" panose="020B0004020202020204" pitchFamily="34" charset="0"/>
              </a:rPr>
              <a:t>H₀.</a:t>
            </a:r>
          </a:p>
          <a:p>
            <a:endParaRPr lang="en-US" sz="4000" dirty="0">
              <a:latin typeface="Aptos" panose="020B0004020202020204" pitchFamily="34" charset="0"/>
            </a:endParaRPr>
          </a:p>
          <a:p>
            <a:r>
              <a:rPr lang="en-US" sz="4000" dirty="0">
                <a:latin typeface="Arial" panose="020B0604020202020204" pitchFamily="34" charset="0"/>
              </a:rPr>
              <a:t>•Conclusion: Intake is significantly lower than 3 liters/day.</a:t>
            </a:r>
          </a:p>
          <a:p>
            <a:r>
              <a:rPr lang="en-US" sz="4000" dirty="0">
                <a:latin typeface="Arial" panose="020B0604020202020204" pitchFamily="34" charset="0"/>
              </a:rPr>
              <a:t>•</a:t>
            </a:r>
            <a:r>
              <a:rPr lang="en-US" sz="4000" b="1" dirty="0">
                <a:latin typeface="Arial" panose="020B0604020202020204" pitchFamily="34" charset="0"/>
              </a:rPr>
              <a:t>Two-sample t-test:</a:t>
            </a:r>
            <a:r>
              <a:rPr lang="en-US" sz="4000" dirty="0">
                <a:latin typeface="Arial" panose="020B0604020202020204" pitchFamily="34" charset="0"/>
              </a:rPr>
              <a:t>•Mean intake workout days = 2737.5 </a:t>
            </a:r>
          </a:p>
          <a:p>
            <a:r>
              <a:rPr lang="en-US" sz="4000" dirty="0">
                <a:latin typeface="Arial" panose="020B0604020202020204" pitchFamily="34" charset="0"/>
              </a:rPr>
              <a:t>•Mean intake non-workout days = 2250</a:t>
            </a:r>
          </a:p>
          <a:p>
            <a:r>
              <a:rPr lang="en-US" sz="4000" dirty="0">
                <a:latin typeface="Arial" panose="020B0604020202020204" pitchFamily="34" charset="0"/>
              </a:rPr>
              <a:t>•p-value = 0.01699, we reject </a:t>
            </a:r>
            <a:r>
              <a:rPr lang="en-US" sz="4000" dirty="0">
                <a:latin typeface="Aptos" panose="020B0004020202020204" pitchFamily="34" charset="0"/>
              </a:rPr>
              <a:t>H₀.</a:t>
            </a:r>
          </a:p>
          <a:p>
            <a:endParaRPr lang="en-US" sz="4000" dirty="0">
              <a:latin typeface="Aptos" panose="020B0004020202020204" pitchFamily="34" charset="0"/>
            </a:endParaRPr>
          </a:p>
          <a:p>
            <a:r>
              <a:rPr lang="en-US" sz="4000" dirty="0">
                <a:latin typeface="Arial" panose="020B0604020202020204" pitchFamily="34" charset="0"/>
              </a:rPr>
              <a:t>•Conclusion: Intake is significantly higher on workout </a:t>
            </a:r>
            <a:r>
              <a:rPr lang="en-US" sz="1800" dirty="0">
                <a:latin typeface="Arial" panose="020B0604020202020204" pitchFamily="34" charset="0"/>
              </a:rPr>
              <a:t>days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0D4661-0887-A33B-7411-4FDE46F03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1606" y="15754683"/>
            <a:ext cx="12823680" cy="66479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A84185-C99D-F360-CD72-3FA94504BBF8}"/>
              </a:ext>
            </a:extLst>
          </p:cNvPr>
          <p:cNvSpPr txBox="1"/>
          <p:nvPr/>
        </p:nvSpPr>
        <p:spPr>
          <a:xfrm>
            <a:off x="1771650" y="14415855"/>
            <a:ext cx="6096000" cy="9325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400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endParaRPr lang="en-US" sz="4000" dirty="0">
              <a:latin typeface="Aptos" panose="020B0004020202020204" pitchFamily="34" charset="0"/>
            </a:endParaRPr>
          </a:p>
          <a:p>
            <a:r>
              <a:rPr lang="en-US" sz="4000" dirty="0">
                <a:latin typeface="Aptos" panose="020B0004020202020204" pitchFamily="34" charset="0"/>
              </a:rPr>
              <a:t>Data </a:t>
            </a:r>
            <a:r>
              <a:rPr lang="en-US" sz="4000" dirty="0" err="1">
                <a:latin typeface="Aptos" panose="020B0004020202020204" pitchFamily="34" charset="0"/>
              </a:rPr>
              <a:t>CollectionVariables</a:t>
            </a:r>
            <a:endParaRPr lang="en-US" sz="4000" dirty="0">
              <a:latin typeface="Aptos" panose="020B0004020202020204" pitchFamily="34" charset="0"/>
            </a:endParaRPr>
          </a:p>
          <a:p>
            <a:pPr lvl="1"/>
            <a:r>
              <a:rPr lang="en-US" sz="4000" dirty="0">
                <a:latin typeface="Aptos" panose="020B0004020202020204" pitchFamily="34" charset="0"/>
              </a:rPr>
              <a:t>Dependent </a:t>
            </a:r>
            <a:r>
              <a:rPr lang="en-US" sz="4000" dirty="0" err="1">
                <a:latin typeface="Aptos" panose="020B0004020202020204" pitchFamily="34" charset="0"/>
              </a:rPr>
              <a:t>Variable:Daily</a:t>
            </a:r>
            <a:r>
              <a:rPr lang="en-US" sz="4000" dirty="0">
                <a:latin typeface="Aptos" panose="020B0004020202020204" pitchFamily="34" charset="0"/>
              </a:rPr>
              <a:t> Water Intake (mL)</a:t>
            </a:r>
          </a:p>
          <a:p>
            <a:pPr lvl="1"/>
            <a:endParaRPr lang="en-US" sz="4000" dirty="0">
              <a:latin typeface="Aptos" panose="020B0004020202020204" pitchFamily="34" charset="0"/>
            </a:endParaRPr>
          </a:p>
          <a:p>
            <a:pPr lvl="2"/>
            <a:r>
              <a:rPr lang="en-US" sz="4000" dirty="0">
                <a:latin typeface="Aptos" panose="020B0004020202020204" pitchFamily="34" charset="0"/>
              </a:rPr>
              <a:t>Independent </a:t>
            </a:r>
            <a:r>
              <a:rPr lang="en-US" sz="4000" dirty="0" err="1">
                <a:latin typeface="Aptos" panose="020B0004020202020204" pitchFamily="34" charset="0"/>
              </a:rPr>
              <a:t>Variable:Workout</a:t>
            </a:r>
            <a:r>
              <a:rPr lang="en-US" sz="4000" dirty="0">
                <a:latin typeface="Aptos" panose="020B0004020202020204" pitchFamily="34" charset="0"/>
              </a:rPr>
              <a:t> </a:t>
            </a:r>
            <a:r>
              <a:rPr lang="en-US" sz="4000" dirty="0" err="1">
                <a:latin typeface="Aptos" panose="020B0004020202020204" pitchFamily="34" charset="0"/>
              </a:rPr>
              <a:t>statusYes</a:t>
            </a:r>
            <a:r>
              <a:rPr lang="en-US" sz="4000" dirty="0">
                <a:latin typeface="Aptos" panose="020B0004020202020204" pitchFamily="34" charset="0"/>
              </a:rPr>
              <a:t>/No</a:t>
            </a:r>
          </a:p>
          <a:p>
            <a:pPr lvl="2"/>
            <a:endParaRPr lang="en-US" sz="4000" dirty="0">
              <a:latin typeface="Aptos" panose="020B0004020202020204" pitchFamily="34" charset="0"/>
            </a:endParaRPr>
          </a:p>
          <a:p>
            <a:pPr lvl="2"/>
            <a:endParaRPr lang="en-US" sz="4000" dirty="0">
              <a:latin typeface="Aptos" panose="020B0004020202020204" pitchFamily="34" charset="0"/>
            </a:endParaRPr>
          </a:p>
          <a:p>
            <a:pPr lvl="1"/>
            <a:r>
              <a:rPr lang="en-US" sz="4000" dirty="0">
                <a:latin typeface="Aptos" panose="020B0004020202020204" pitchFamily="34" charset="0"/>
              </a:rPr>
              <a:t>Other </a:t>
            </a:r>
            <a:r>
              <a:rPr lang="en-US" sz="4000" dirty="0" err="1">
                <a:latin typeface="Aptos" panose="020B0004020202020204" pitchFamily="34" charset="0"/>
              </a:rPr>
              <a:t>Column:Day</a:t>
            </a:r>
            <a:r>
              <a:rPr lang="en-US" sz="4000" dirty="0">
                <a:latin typeface="Aptos" panose="020B0004020202020204" pitchFamily="34" charset="0"/>
              </a:rPr>
              <a:t>(identifier)</a:t>
            </a:r>
          </a:p>
          <a:p>
            <a:pPr lvl="1"/>
            <a:endParaRPr lang="en-US" sz="2000" dirty="0">
              <a:latin typeface="Aptos" panose="020B0004020202020204" pitchFamily="34" charset="0"/>
            </a:endParaRPr>
          </a:p>
          <a:p>
            <a:pPr lvl="1"/>
            <a:endParaRPr lang="en-US" sz="2000" dirty="0">
              <a:latin typeface="Aptos" panose="020B00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06F285-2C99-80B1-C3CB-8E47D760A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9570" y="15479263"/>
            <a:ext cx="4733637" cy="82622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2628554-C309-A0E8-354F-C6CE9DC314AA}"/>
              </a:ext>
            </a:extLst>
          </p:cNvPr>
          <p:cNvSpPr txBox="1"/>
          <p:nvPr/>
        </p:nvSpPr>
        <p:spPr>
          <a:xfrm>
            <a:off x="1771650" y="7314868"/>
            <a:ext cx="9171214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400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R="121480"/>
            <a:r>
              <a:rPr lang="en-US" sz="4000" b="1" dirty="0">
                <a:latin typeface="Aptos" panose="020B0004020202020204" pitchFamily="34" charset="0"/>
              </a:rPr>
              <a:t>Hypotheses</a:t>
            </a:r>
            <a:endParaRPr lang="en-US" sz="4000" dirty="0">
              <a:latin typeface="Aptos" panose="020B0004020202020204" pitchFamily="34" charset="0"/>
            </a:endParaRPr>
          </a:p>
          <a:p>
            <a:pPr lvl="1"/>
            <a:r>
              <a:rPr lang="en-US" sz="4000" b="1" dirty="0">
                <a:latin typeface="Aptos" panose="020B0004020202020204" pitchFamily="34" charset="0"/>
              </a:rPr>
              <a:t>Hypothesis 1:</a:t>
            </a:r>
            <a:r>
              <a:rPr lang="en-US" sz="4000" dirty="0">
                <a:latin typeface="Aptos" panose="020B0004020202020204" pitchFamily="34" charset="0"/>
              </a:rPr>
              <a:t>Null Hypothesis: Mean intake = 3000 mL/day</a:t>
            </a:r>
          </a:p>
          <a:p>
            <a:pPr lvl="1"/>
            <a:r>
              <a:rPr lang="en-US" sz="4000" dirty="0">
                <a:latin typeface="Aptos" panose="020B0004020202020204" pitchFamily="34" charset="0"/>
              </a:rPr>
              <a:t>Alternative Hypothesis: Mean intake ≠ 3000 mL/day</a:t>
            </a:r>
          </a:p>
          <a:p>
            <a:pPr lvl="1"/>
            <a:r>
              <a:rPr lang="en-US" sz="4000" dirty="0">
                <a:latin typeface="Aptos" panose="020B0004020202020204" pitchFamily="34" charset="0"/>
              </a:rPr>
              <a:t>If p-value &lt; 0.05 we will reject the Null Hypothesis</a:t>
            </a:r>
          </a:p>
          <a:p>
            <a:pPr lvl="1"/>
            <a:r>
              <a:rPr lang="en-US" sz="4000" dirty="0">
                <a:latin typeface="Aptos" panose="020B0004020202020204" pitchFamily="34" charset="0"/>
              </a:rPr>
              <a:t>If p-value &gt;0.05 we will fail to reject the Null Hypothesis.</a:t>
            </a:r>
          </a:p>
          <a:p>
            <a:pPr lvl="1"/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357910-EA4B-E435-E96A-AE526417D90A}"/>
              </a:ext>
            </a:extLst>
          </p:cNvPr>
          <p:cNvSpPr txBox="1"/>
          <p:nvPr/>
        </p:nvSpPr>
        <p:spPr>
          <a:xfrm>
            <a:off x="16097250" y="8123635"/>
            <a:ext cx="1781175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4400" b="1" dirty="0">
                <a:latin typeface="Aptos" panose="020B0004020202020204" pitchFamily="34" charset="0"/>
              </a:rPr>
              <a:t>Hypothesis 2:</a:t>
            </a:r>
            <a:r>
              <a:rPr lang="en-US" sz="4400" dirty="0">
                <a:latin typeface="Aptos" panose="020B0004020202020204" pitchFamily="34" charset="0"/>
              </a:rPr>
              <a:t>Null Hypothesis : Mean intake on workout days = mean intake on non-workout days</a:t>
            </a:r>
          </a:p>
          <a:p>
            <a:pPr lvl="1"/>
            <a:r>
              <a:rPr lang="en-US" sz="4400" dirty="0">
                <a:latin typeface="Aptos" panose="020B0004020202020204" pitchFamily="34" charset="0"/>
              </a:rPr>
              <a:t>Alternative Hypothesis : Mean intake on workout days ≠ mean intake on non-workout days</a:t>
            </a:r>
          </a:p>
          <a:p>
            <a:pPr lvl="1"/>
            <a:r>
              <a:rPr lang="en-US" sz="4400" dirty="0">
                <a:latin typeface="Aptos" panose="020B0004020202020204" pitchFamily="34" charset="0"/>
              </a:rPr>
              <a:t>If p-value &lt; 0.05 we will reject the Null Hypothesis</a:t>
            </a:r>
          </a:p>
          <a:p>
            <a:pPr lvl="1"/>
            <a:r>
              <a:rPr lang="en-US" sz="4400" dirty="0">
                <a:latin typeface="Aptos" panose="020B0004020202020204" pitchFamily="34" charset="0"/>
              </a:rPr>
              <a:t>If p-value &gt;0.05 we will fail to reject the Null Hypothesis.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F97333-1487-3691-21C3-F30E5187B248}"/>
              </a:ext>
            </a:extLst>
          </p:cNvPr>
          <p:cNvSpPr txBox="1"/>
          <p:nvPr/>
        </p:nvSpPr>
        <p:spPr>
          <a:xfrm>
            <a:off x="1771650" y="3552532"/>
            <a:ext cx="39433499" cy="3023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050" dirty="0">
              <a:solidFill>
                <a:srgbClr val="000000"/>
              </a:solidFill>
              <a:latin typeface="Aptos Display" panose="020B0004020202020204" pitchFamily="34" charset="0"/>
            </a:endParaRPr>
          </a:p>
          <a:p>
            <a:pPr marR="25170"/>
            <a:r>
              <a:rPr lang="en-US" sz="6000" dirty="0">
                <a:latin typeface="Aptos Display" panose="020B0004020202020204" pitchFamily="34" charset="0"/>
              </a:rPr>
              <a:t>Topic of Study: What affects the amount of water intake I consume everyday?</a:t>
            </a:r>
          </a:p>
          <a:p>
            <a:pPr marR="25170"/>
            <a:r>
              <a:rPr lang="en-US" sz="6000" dirty="0">
                <a:latin typeface="Aptos" panose="020B0004020202020204" pitchFamily="34" charset="0"/>
              </a:rPr>
              <a:t>General studies recommend that the daily intake should be 3 liters a day. Does workout play a factor in my consumption of water?</a:t>
            </a:r>
            <a:endParaRPr lang="en-US" sz="6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34934E-911D-1D69-B7CE-1D273AB6F3F4}"/>
              </a:ext>
            </a:extLst>
          </p:cNvPr>
          <p:cNvSpPr txBox="1"/>
          <p:nvPr/>
        </p:nvSpPr>
        <p:spPr>
          <a:xfrm>
            <a:off x="12517094" y="26578877"/>
            <a:ext cx="716031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46780"/>
            <a:r>
              <a:rPr lang="en-US" sz="1800" dirty="0">
                <a:latin typeface="Lucida Console" panose="020B0609040504020204" pitchFamily="49" charset="0"/>
              </a:rPr>
              <a:t>Two Sample t-test</a:t>
            </a:r>
          </a:p>
          <a:p>
            <a:pPr marR="118500"/>
            <a:r>
              <a:rPr lang="en-US" sz="1800" dirty="0">
                <a:latin typeface="Lucida Console" panose="020B0609040504020204" pitchFamily="49" charset="0"/>
              </a:rPr>
              <a:t>data: </a:t>
            </a:r>
            <a:r>
              <a:rPr lang="en-US" sz="1800" dirty="0" err="1">
                <a:latin typeface="Lucida Console" panose="020B0609040504020204" pitchFamily="49" charset="0"/>
              </a:rPr>
              <a:t>water_intake</a:t>
            </a:r>
            <a:r>
              <a:rPr lang="en-US" sz="1800" dirty="0">
                <a:latin typeface="Lucida Console" panose="020B0609040504020204" pitchFamily="49" charset="0"/>
              </a:rPr>
              <a:t> by workout</a:t>
            </a:r>
          </a:p>
          <a:p>
            <a:pPr marR="90230"/>
            <a:r>
              <a:rPr lang="en-US" sz="1800" dirty="0">
                <a:latin typeface="Lucida Console" panose="020B0609040504020204" pitchFamily="49" charset="0"/>
              </a:rPr>
              <a:t>t = -3.0396, </a:t>
            </a:r>
            <a:r>
              <a:rPr lang="en-US" sz="1800" dirty="0" err="1">
                <a:latin typeface="Lucida Console" panose="020B0609040504020204" pitchFamily="49" charset="0"/>
              </a:rPr>
              <a:t>df</a:t>
            </a:r>
            <a:r>
              <a:rPr lang="en-US" sz="1800" dirty="0">
                <a:latin typeface="Lucida Console" panose="020B0609040504020204" pitchFamily="49" charset="0"/>
              </a:rPr>
              <a:t> = 7.6326, p-value = 0.01699</a:t>
            </a:r>
          </a:p>
          <a:p>
            <a:pPr marR="90230"/>
            <a:r>
              <a:rPr lang="en-US" sz="1800" dirty="0">
                <a:latin typeface="Lucida Console" panose="020B0609040504020204" pitchFamily="49" charset="0"/>
              </a:rPr>
              <a:t>alternative hypothesis: true difference in </a:t>
            </a:r>
          </a:p>
          <a:p>
            <a:pPr marR="88050"/>
            <a:r>
              <a:rPr lang="en-US" sz="1800" dirty="0">
                <a:latin typeface="Lucida Console" panose="020B0609040504020204" pitchFamily="49" charset="0"/>
              </a:rPr>
              <a:t>means between group No and group Yes is not </a:t>
            </a:r>
          </a:p>
          <a:p>
            <a:pPr marR="162000"/>
            <a:r>
              <a:rPr lang="en-US" sz="1800" dirty="0">
                <a:latin typeface="Lucida Console" panose="020B0609040504020204" pitchFamily="49" charset="0"/>
              </a:rPr>
              <a:t>equal to 0</a:t>
            </a:r>
          </a:p>
          <a:p>
            <a:pPr marR="116330"/>
            <a:r>
              <a:rPr lang="en-US" sz="1800" dirty="0">
                <a:latin typeface="Lucida Console" panose="020B0609040504020204" pitchFamily="49" charset="0"/>
              </a:rPr>
              <a:t>95 percent confidence interval: </a:t>
            </a:r>
          </a:p>
          <a:p>
            <a:pPr marR="142430"/>
            <a:r>
              <a:rPr lang="en-US" sz="1800" dirty="0">
                <a:latin typeface="Lucida Console" panose="020B0609040504020204" pitchFamily="49" charset="0"/>
              </a:rPr>
              <a:t>-860.4695 -114.5305</a:t>
            </a:r>
          </a:p>
          <a:p>
            <a:pPr marR="146780"/>
            <a:r>
              <a:rPr lang="en-US" sz="1800" dirty="0">
                <a:latin typeface="Lucida Console" panose="020B0609040504020204" pitchFamily="49" charset="0"/>
              </a:rPr>
              <a:t>sample estimates: </a:t>
            </a:r>
          </a:p>
          <a:p>
            <a:pPr marR="107630"/>
            <a:r>
              <a:rPr lang="en-US" sz="1800" dirty="0">
                <a:latin typeface="Lucida Console" panose="020B0609040504020204" pitchFamily="49" charset="0"/>
              </a:rPr>
              <a:t>mean in group No mean in group Yes </a:t>
            </a:r>
          </a:p>
          <a:p>
            <a:pPr marR="129380"/>
            <a:r>
              <a:rPr lang="en-US" sz="1800" dirty="0">
                <a:latin typeface="Lucida Console" panose="020B0609040504020204" pitchFamily="49" charset="0"/>
              </a:rPr>
              <a:t>2250.0 2737.5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99514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845</Words>
  <Application>Microsoft Office PowerPoint</Application>
  <PresentationFormat>Custom</PresentationFormat>
  <Paragraphs>141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Lucida Console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lykyteng lysongtseng</dc:creator>
  <cp:lastModifiedBy>lykyteng lysongtseng</cp:lastModifiedBy>
  <cp:revision>1</cp:revision>
  <dcterms:created xsi:type="dcterms:W3CDTF">2025-11-21T03:36:50Z</dcterms:created>
  <dcterms:modified xsi:type="dcterms:W3CDTF">2025-11-21T04:04:59Z</dcterms:modified>
</cp:coreProperties>
</file>